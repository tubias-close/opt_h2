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5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8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4983D3B-07CB-5F07-8AC9-1FED88B16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3FAC2D5-72E2-1C31-A432-9222852741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2592140-1D8F-F978-7FC9-DDAE33F70F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ED076-D522-43C9-A58C-F6D631DD9FC1}" type="datetimeFigureOut">
              <a:rPr lang="de-DE" smtClean="0"/>
              <a:t>15.09.2026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59AE7D3-1161-BA36-C618-CB187ACBB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0D0C213-79A3-1063-B84F-0783269FB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ECD4D-053A-45E1-81BD-AD419FB6A50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636246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AFF7097-A7C7-9BA2-A576-7B2250947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026DF68-A7EB-32D8-980F-198730B82D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A84A8C0-0A66-CD41-48EC-4C4B3427F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ED076-D522-43C9-A58C-F6D631DD9FC1}" type="datetimeFigureOut">
              <a:rPr lang="de-DE" smtClean="0"/>
              <a:t>15.09.2026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02F49C6-D667-934C-460E-59D633DAB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085F24D-488F-AC06-B8A8-CE8146270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ECD4D-053A-45E1-81BD-AD419FB6A50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695916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1BC669A-D72F-8843-6E30-768367405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C549EFF-3690-772D-274E-275B840DC9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6F46DF3-D258-8858-1D80-8D6F30D96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ED076-D522-43C9-A58C-F6D631DD9FC1}" type="datetimeFigureOut">
              <a:rPr lang="de-DE" smtClean="0"/>
              <a:t>15.09.2026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1741BD8-62D2-E4E7-F96C-9213E85D5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B5FF08D-AA76-47A8-FBEE-282716349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ECD4D-053A-45E1-81BD-AD419FB6A50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727307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7E6BEF-2570-1CBA-F048-05CF20569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FAC96AF-AB9D-8661-47DC-36FCA08A20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401BC145-94AB-7693-6A7E-2E6BF0D733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44132FA-A273-5A63-2194-9F2B940F1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ED076-D522-43C9-A58C-F6D631DD9FC1}" type="datetimeFigureOut">
              <a:rPr lang="de-DE" smtClean="0"/>
              <a:t>15.09.2026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ED508BB-8DDE-B5CB-BF82-C3F2F18EED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686F125-B273-5F57-5975-55C0AA25F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ECD4D-053A-45E1-81BD-AD419FB6A50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795589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F0E3C3A-A64A-2C12-CF42-29C8270D18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D4386F7-023A-EA62-C3FA-F16EC2E4FE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0FF9D12-C0C2-765E-5549-E95CC18E61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5DCE20A6-C937-266C-72B9-4062A8FE15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9C8B56F5-2885-900F-6768-E570512E54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90663145-342B-F794-643A-C0FC9AEF7A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ED076-D522-43C9-A58C-F6D631DD9FC1}" type="datetimeFigureOut">
              <a:rPr lang="de-DE" smtClean="0"/>
              <a:t>15.09.2026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82D2B841-74FF-CAF8-434B-E503BABFF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4EA3104B-24AD-B1B0-4A94-3E8FD2129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ECD4D-053A-45E1-81BD-AD419FB6A50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237709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96036DA-856B-69BF-8D22-D071012BB9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6571F746-483D-4C8D-BE15-0220B5F0F7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ED076-D522-43C9-A58C-F6D631DD9FC1}" type="datetimeFigureOut">
              <a:rPr lang="de-DE" smtClean="0"/>
              <a:t>15.09.2026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ED8425F-EF42-0B34-E0CE-2A32C08EB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C201871-D273-1280-968D-1141E6F48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ECD4D-053A-45E1-81BD-AD419FB6A50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270244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71B5BF8C-257B-84F2-975B-502A7C8DA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ED076-D522-43C9-A58C-F6D631DD9FC1}" type="datetimeFigureOut">
              <a:rPr lang="de-DE" smtClean="0"/>
              <a:t>15.09.2026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D52F574A-FF71-B33A-6FC7-D50D9E7FC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D61B72B-5EB8-5EAA-AD90-CF779B9E5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ECD4D-053A-45E1-81BD-AD419FB6A50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63856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7D1595C-19E7-2F2F-B582-A7785B49C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8CB5804-E6CF-EDFF-F0A0-AFF42A36D7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DBA0569-9FE6-60BD-5095-A15228C213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A8EC0D9-8A58-B774-824D-539D61734A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ED076-D522-43C9-A58C-F6D631DD9FC1}" type="datetimeFigureOut">
              <a:rPr lang="de-DE" smtClean="0"/>
              <a:t>15.09.2026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E4B45F0-F40A-6153-DC09-A0393C468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4B68E45-8031-65B0-63B2-FC83EA490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ECD4D-053A-45E1-81BD-AD419FB6A50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996144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8CFF927-B9DC-5327-C846-FF7DA5DE81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A146BC3F-0321-E70E-E200-C224001066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DD0FE15-318B-F1C6-C054-D94FA79D4B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BA06580-0FEF-0E67-7336-4D5C410C49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ED076-D522-43C9-A58C-F6D631DD9FC1}" type="datetimeFigureOut">
              <a:rPr lang="de-DE" smtClean="0"/>
              <a:t>15.09.2026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962AB96-816F-754D-B79F-B1B1F1C34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E763871-C1C8-3FA9-606E-C47DAD45A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ECD4D-053A-45E1-81BD-AD419FB6A50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410973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CD34CCA-5452-785A-898B-3F46DDC05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6978E268-14C8-2400-A5D6-8EDC1E61A8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B377937-C952-BAD5-6152-E2598A02C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ED076-D522-43C9-A58C-F6D631DD9FC1}" type="datetimeFigureOut">
              <a:rPr lang="de-DE" smtClean="0"/>
              <a:t>15.09.2026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F1FB58A-1D71-DF24-3646-BA07F7371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0901F7D-7A37-FC44-09A3-D74935221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ECD4D-053A-45E1-81BD-AD419FB6A50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378521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B8AC8C25-FCF0-111B-67D2-881DDF8FBE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6D95AD12-629B-BE88-EA70-7B23751528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A1AC829-08ED-B0AE-04C1-32C2FE690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ED076-D522-43C9-A58C-F6D631DD9FC1}" type="datetimeFigureOut">
              <a:rPr lang="de-DE" smtClean="0"/>
              <a:t>15.09.2026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0185351-7590-B4E0-9F68-04730344F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3F0B9C1-EAC2-3098-10E7-08ED69DAA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ECD4D-053A-45E1-81BD-AD419FB6A50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703620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0C3DD863-A5C4-5062-7D9A-8FF5D27D3F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0804725-67B3-A5F5-9694-F15A20EF38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32B7BD6-B1B2-3224-7B09-C3AEA04251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CED076-D522-43C9-A58C-F6D631DD9FC1}" type="datetimeFigureOut">
              <a:rPr lang="de-DE" smtClean="0"/>
              <a:t>15.09.2026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7CC2139-EE6F-6F88-B326-EB043B4D29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62FF6DE-2D4C-A54B-7668-A00747254A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8ECD4D-053A-45E1-81BD-AD419FB6A50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917732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D3238E-1BC7-93DF-B6E1-4839B49112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0025" y="0"/>
            <a:ext cx="10217544" cy="1375646"/>
          </a:xfrm>
        </p:spPr>
        <p:txBody>
          <a:bodyPr>
            <a:normAutofit fontScale="90000"/>
          </a:bodyPr>
          <a:lstStyle/>
          <a:p>
            <a:r>
              <a:rPr lang="de-DE" sz="5400" dirty="0"/>
              <a:t>Systemgrenzen der Forschungsarbeit</a:t>
            </a:r>
          </a:p>
        </p:txBody>
      </p:sp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6D51B9A0-4B38-A886-D6D5-BB904FB49F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2868719"/>
              </p:ext>
            </p:extLst>
          </p:nvPr>
        </p:nvGraphicFramePr>
        <p:xfrm>
          <a:off x="838200" y="2172494"/>
          <a:ext cx="10515600" cy="39319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998315934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53412499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Annahme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dirty="0"/>
                        <a:t>Namibia-Basiswert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26822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Netzemissionsfaktor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dirty="0"/>
                        <a:t>220 kg </a:t>
                      </a:r>
                      <a:r>
                        <a:rPr lang="de-DE" dirty="0" err="1"/>
                        <a:t>CO₂e</a:t>
                      </a:r>
                      <a:r>
                        <a:rPr lang="de-DE" dirty="0"/>
                        <a:t>/MWh (</a:t>
                      </a:r>
                      <a:r>
                        <a:rPr lang="de-DE" dirty="0">
                          <a:solidFill>
                            <a:srgbClr val="FF0000"/>
                          </a:solidFill>
                        </a:rPr>
                        <a:t>Standortbezogen</a:t>
                      </a:r>
                      <a:r>
                        <a:rPr lang="de-DE" dirty="0"/>
                        <a:t>) Was wenn dynamisch ist?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04116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Strompreis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dirty="0"/>
                        <a:t>128 EUR/MWh (</a:t>
                      </a:r>
                      <a:r>
                        <a:rPr lang="de-DE" dirty="0">
                          <a:solidFill>
                            <a:srgbClr val="FF0000"/>
                          </a:solidFill>
                        </a:rPr>
                        <a:t>Standortbezogen</a:t>
                      </a:r>
                      <a:r>
                        <a:rPr lang="de-DE" dirty="0"/>
                        <a:t>), dynamisch?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80347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dirty="0"/>
                        <a:t>realer WACC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dirty="0"/>
                        <a:t>11 %(</a:t>
                      </a:r>
                      <a:r>
                        <a:rPr lang="de-DE" dirty="0">
                          <a:solidFill>
                            <a:srgbClr val="FF0000"/>
                          </a:solidFill>
                        </a:rPr>
                        <a:t>Standortbezogen</a:t>
                      </a:r>
                      <a:r>
                        <a:rPr lang="de-DE" dirty="0"/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36525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dirty="0">
                          <a:solidFill>
                            <a:srgbClr val="FF0000"/>
                          </a:solidFill>
                        </a:rPr>
                        <a:t>H₂-Nachfrage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dirty="0"/>
                        <a:t>10.000 kg/Tag (ebenfalls als </a:t>
                      </a:r>
                      <a:r>
                        <a:rPr lang="de-DE" dirty="0" err="1"/>
                        <a:t>sensitivität</a:t>
                      </a:r>
                      <a:r>
                        <a:rPr lang="de-DE" dirty="0"/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6146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Elektrolyseurstrombedarf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dirty="0"/>
                        <a:t>52,5 kWh/kg H₂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78896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Kompressorstrombedarf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1,7875 kWh/kg H₂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92721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H₂-Heizwert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120 MJ/kg H₂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81417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Modellzeitraum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8.760 Stunden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127476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Zeitstandard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dirty="0"/>
                        <a:t>UTC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8859877"/>
                  </a:ext>
                </a:extLst>
              </a:tr>
            </a:tbl>
          </a:graphicData>
        </a:graphic>
      </p:graphicFrame>
      <p:sp>
        <p:nvSpPr>
          <p:cNvPr id="3" name="Textfeld 2">
            <a:extLst>
              <a:ext uri="{FF2B5EF4-FFF2-40B4-BE49-F238E27FC236}">
                <a16:creationId xmlns:a16="http://schemas.microsoft.com/office/drawing/2014/main" id="{F00C3852-1719-E991-92AE-DAD952C76086}"/>
              </a:ext>
            </a:extLst>
          </p:cNvPr>
          <p:cNvSpPr txBox="1"/>
          <p:nvPr/>
        </p:nvSpPr>
        <p:spPr>
          <a:xfrm>
            <a:off x="940025" y="6215974"/>
            <a:ext cx="41669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rgbClr val="FF0000"/>
                </a:solidFill>
              </a:rPr>
              <a:t>Weitere RED -3 </a:t>
            </a:r>
            <a:r>
              <a:rPr lang="de-DE" dirty="0" err="1">
                <a:solidFill>
                  <a:srgbClr val="FF0000"/>
                </a:solidFill>
              </a:rPr>
              <a:t>kriterien</a:t>
            </a:r>
            <a:endParaRPr lang="de-DE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96456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3571B035-0C1C-A046-82D1-4E675CCD40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5927685"/>
              </p:ext>
            </p:extLst>
          </p:nvPr>
        </p:nvGraphicFramePr>
        <p:xfrm>
          <a:off x="485520" y="282948"/>
          <a:ext cx="11417862" cy="38564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05954">
                  <a:extLst>
                    <a:ext uri="{9D8B030D-6E8A-4147-A177-3AD203B41FA5}">
                      <a16:colId xmlns:a16="http://schemas.microsoft.com/office/drawing/2014/main" val="2586343836"/>
                    </a:ext>
                  </a:extLst>
                </a:gridCol>
                <a:gridCol w="3805954">
                  <a:extLst>
                    <a:ext uri="{9D8B030D-6E8A-4147-A177-3AD203B41FA5}">
                      <a16:colId xmlns:a16="http://schemas.microsoft.com/office/drawing/2014/main" val="1350638219"/>
                    </a:ext>
                  </a:extLst>
                </a:gridCol>
                <a:gridCol w="3805954">
                  <a:extLst>
                    <a:ext uri="{9D8B030D-6E8A-4147-A177-3AD203B41FA5}">
                      <a16:colId xmlns:a16="http://schemas.microsoft.com/office/drawing/2014/main" val="1181138394"/>
                    </a:ext>
                  </a:extLst>
                </a:gridCol>
              </a:tblGrid>
              <a:tr h="2438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Kriterium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Grenzwert im Modell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Wann bestanden?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3227002020"/>
                  </a:ext>
                </a:extLst>
              </a:tr>
              <a:tr h="6096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zeitliche Korrelation S1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monatlich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EE-Erzeugung ≥ Elektrolyseur- und Kompressorstrom in jedem Monat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3502903890"/>
                  </a:ext>
                </a:extLst>
              </a:tr>
              <a:tr h="6096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zeitliche Korrelation S2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stündlich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EE-Erzeugung ≥ Elektrolyseur- und Kompressorstrom in jeder Stunde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3878187632"/>
                  </a:ext>
                </a:extLst>
              </a:tr>
              <a:tr h="4267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numerische Toleranz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0,000001 MWh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eine kleinere Abweichung wird als Rundungsfehler akzeptiert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2404761984"/>
                  </a:ext>
                </a:extLst>
              </a:tr>
              <a:tr h="2438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Mindest-THG-Einsparung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70 %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berechnete Einsparung ≥ 70 %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755677736"/>
                  </a:ext>
                </a:extLst>
              </a:tr>
              <a:tr h="2438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fossiler Vergleichswert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94 g CO₂e/MJ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gesetzlicher Referenzwert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3354898578"/>
                  </a:ext>
                </a:extLst>
              </a:tr>
              <a:tr h="4267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maximale H₂-Intensität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28,2 g </a:t>
                      </a:r>
                      <a:r>
                        <a:rPr lang="de-DE" sz="1400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CO₂e</a:t>
                      </a:r>
                      <a:r>
                        <a:rPr lang="de-DE" sz="1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/MJ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Wert darf nicht überschritten werden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1778291931"/>
                  </a:ext>
                </a:extLst>
              </a:tr>
              <a:tr h="4267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umgerechneter H₂-Grenzwert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3,384 kg </a:t>
                      </a:r>
                      <a:r>
                        <a:rPr lang="de-DE" sz="1400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CO₂e</a:t>
                      </a:r>
                      <a:r>
                        <a:rPr lang="de-DE" sz="1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/kg H₂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Wert darf nicht überschritten werden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3511665788"/>
                  </a:ext>
                </a:extLst>
              </a:tr>
              <a:tr h="4267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verwendeter H₂-Heizwert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120 MJ/kg H₂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Systemannahme für die Umrechnung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1066444750"/>
                  </a:ext>
                </a:extLst>
              </a:tr>
            </a:tbl>
          </a:graphicData>
        </a:graphic>
      </p:graphicFrame>
      <p:sp>
        <p:nvSpPr>
          <p:cNvPr id="6" name="Textfeld 5">
            <a:extLst>
              <a:ext uri="{FF2B5EF4-FFF2-40B4-BE49-F238E27FC236}">
                <a16:creationId xmlns:a16="http://schemas.microsoft.com/office/drawing/2014/main" id="{9BA358AB-1131-4363-051B-AC6B750C2AE0}"/>
              </a:ext>
            </a:extLst>
          </p:cNvPr>
          <p:cNvSpPr txBox="1"/>
          <p:nvPr/>
        </p:nvSpPr>
        <p:spPr>
          <a:xfrm>
            <a:off x="396508" y="4191080"/>
            <a:ext cx="98075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400" dirty="0"/>
              <a:t>RFNBO-Strombedarf= Elektrolyseurstrom+ </a:t>
            </a:r>
            <a:r>
              <a:rPr lang="de-DE" sz="1400" dirty="0" err="1"/>
              <a:t>Kompressorstrom</a:t>
            </a:r>
            <a:endParaRPr lang="de-DE" sz="1400" dirty="0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3CE67B97-C751-61F9-C35D-553963D979A7}"/>
              </a:ext>
            </a:extLst>
          </p:cNvPr>
          <p:cNvSpPr txBox="1"/>
          <p:nvPr/>
        </p:nvSpPr>
        <p:spPr>
          <a:xfrm>
            <a:off x="396508" y="4411551"/>
            <a:ext cx="60973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400" dirty="0"/>
              <a:t>EE-Strom= PV-Erzeugung+ Winderzeugung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CFC5CE26-EF97-0877-9395-A81FE7E37997}"/>
              </a:ext>
            </a:extLst>
          </p:cNvPr>
          <p:cNvSpPr txBox="1"/>
          <p:nvPr/>
        </p:nvSpPr>
        <p:spPr>
          <a:xfrm>
            <a:off x="6570731" y="4921117"/>
            <a:ext cx="677303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PV + Wind ≥ Elektrolyseur + Kompressor in jedem  Kalendermonat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02929746-2E4C-44FB-3B03-C74A4A727DC3}"/>
              </a:ext>
            </a:extLst>
          </p:cNvPr>
          <p:cNvSpPr txBox="1"/>
          <p:nvPr/>
        </p:nvSpPr>
        <p:spPr>
          <a:xfrm>
            <a:off x="6570731" y="5182619"/>
            <a:ext cx="60973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regulatorische H₂-Intensität ≤ 3,384 kg </a:t>
            </a:r>
            <a:r>
              <a:rPr lang="de-DE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CO₂e</a:t>
            </a:r>
            <a:r>
              <a:rPr lang="de-DE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/kg H</a:t>
            </a:r>
            <a:r>
              <a:rPr lang="de-DE" sz="1400" dirty="0"/>
              <a:t>₂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2057986F-B6E8-22A9-3B5A-DE000F3B86B7}"/>
              </a:ext>
            </a:extLst>
          </p:cNvPr>
          <p:cNvSpPr txBox="1"/>
          <p:nvPr/>
        </p:nvSpPr>
        <p:spPr>
          <a:xfrm>
            <a:off x="161840" y="4921117"/>
            <a:ext cx="677303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PV(t) + Wind(t) ≥ Elektrolyseur(t) + Kompressor(t) in jeder einzelnen Stunde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36D57CE7-D214-E535-AC42-3B0013C69D69}"/>
              </a:ext>
            </a:extLst>
          </p:cNvPr>
          <p:cNvSpPr txBox="1"/>
          <p:nvPr/>
        </p:nvSpPr>
        <p:spPr>
          <a:xfrm>
            <a:off x="161840" y="5228390"/>
            <a:ext cx="549854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regulatorische H₂-Intensität ≤ 3,384 kg </a:t>
            </a:r>
            <a:r>
              <a:rPr lang="de-DE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CO₂e</a:t>
            </a:r>
            <a:r>
              <a:rPr lang="de-DE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/kg H₂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D0774E23-62FD-C5C8-1CF7-FA94EFF7B063}"/>
              </a:ext>
            </a:extLst>
          </p:cNvPr>
          <p:cNvSpPr txBox="1"/>
          <p:nvPr/>
        </p:nvSpPr>
        <p:spPr>
          <a:xfrm>
            <a:off x="1723606" y="4678234"/>
            <a:ext cx="1577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rgbClr val="00B050"/>
                </a:solidFill>
              </a:rPr>
              <a:t>S1 Szenario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032FA815-3B07-51DC-69F1-F079714577BC}"/>
              </a:ext>
            </a:extLst>
          </p:cNvPr>
          <p:cNvSpPr txBox="1"/>
          <p:nvPr/>
        </p:nvSpPr>
        <p:spPr>
          <a:xfrm>
            <a:off x="8379305" y="4649393"/>
            <a:ext cx="1577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rgbClr val="00B050"/>
                </a:solidFill>
              </a:rPr>
              <a:t>S2 Szenario</a:t>
            </a:r>
          </a:p>
        </p:txBody>
      </p:sp>
    </p:spTree>
    <p:extLst>
      <p:ext uri="{BB962C8B-B14F-4D97-AF65-F5344CB8AC3E}">
        <p14:creationId xmlns:p14="http://schemas.microsoft.com/office/powerpoint/2010/main" val="14107967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082AF47-584E-35E5-D8A2-28FB5E344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2563"/>
          </a:xfrm>
        </p:spPr>
        <p:txBody>
          <a:bodyPr>
            <a:normAutofit/>
          </a:bodyPr>
          <a:lstStyle/>
          <a:p>
            <a:pPr algn="ctr"/>
            <a:r>
              <a:rPr lang="de-DE" sz="3600" dirty="0"/>
              <a:t>Untersuchte Sensitivitäten</a:t>
            </a:r>
          </a:p>
        </p:txBody>
      </p:sp>
      <p:graphicFrame>
        <p:nvGraphicFramePr>
          <p:cNvPr id="4" name="Inhaltsplatzhalter 3">
            <a:extLst>
              <a:ext uri="{FF2B5EF4-FFF2-40B4-BE49-F238E27FC236}">
                <a16:creationId xmlns:a16="http://schemas.microsoft.com/office/drawing/2014/main" id="{A4B40273-881A-036E-106F-0F23FD1AC13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51621858"/>
              </p:ext>
            </p:extLst>
          </p:nvPr>
        </p:nvGraphicFramePr>
        <p:xfrm>
          <a:off x="838200" y="1111224"/>
          <a:ext cx="10515600" cy="2834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352569278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40575167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75015246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36327611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dirty="0">
                          <a:solidFill>
                            <a:srgbClr val="00B050"/>
                          </a:solidFill>
                        </a:rPr>
                        <a:t>Parameter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niedriger Wert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Basiswert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hoher Wert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79117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Strompreis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64 EUR/MWh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128 EUR/MWh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192 EUR/MWh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203329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Elektrolyseur-CAPEX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972,75 EUR/kW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dirty="0"/>
                        <a:t>1.297 EUR/kW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1.621,25 EUR/kW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356190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dirty="0"/>
                        <a:t>Elektrolyseur-Strombedarf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47,25 kWh/kg H₂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52,5 kWh/kg H₂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57,75 kWh/kg H₂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175652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realer WACC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7 %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dirty="0"/>
                        <a:t>11 %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15 %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59303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PV-CAPEX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690,75 EUR/kW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921 EUR/kW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1.151,25 EUR/kW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996973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H₂-Speicher-CAPEX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550,125 EUR/kg H₂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733,50 EUR/kg H₂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dirty="0"/>
                        <a:t>916,875 EUR/kg H₂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18926655"/>
                  </a:ext>
                </a:extLst>
              </a:tr>
            </a:tbl>
          </a:graphicData>
        </a:graphic>
      </p:graphicFrame>
      <p:graphicFrame>
        <p:nvGraphicFramePr>
          <p:cNvPr id="5" name="Tabelle 4">
            <a:extLst>
              <a:ext uri="{FF2B5EF4-FFF2-40B4-BE49-F238E27FC236}">
                <a16:creationId xmlns:a16="http://schemas.microsoft.com/office/drawing/2014/main" id="{1177C327-CE12-E28C-C6BA-B04E7415DD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6832290"/>
              </p:ext>
            </p:extLst>
          </p:nvPr>
        </p:nvGraphicFramePr>
        <p:xfrm>
          <a:off x="838200" y="4102662"/>
          <a:ext cx="10515600" cy="202683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069784579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144300579"/>
                    </a:ext>
                  </a:extLst>
                </a:gridCol>
              </a:tblGrid>
              <a:tr h="4053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Windfall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dirty="0"/>
                        <a:t>Wind-CAPEX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76873625"/>
                  </a:ext>
                </a:extLst>
              </a:tr>
              <a:tr h="4053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25 % des Basiswerts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444,875 EUR/kW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0692257"/>
                  </a:ext>
                </a:extLst>
              </a:tr>
              <a:tr h="4053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50 % des Basiswerts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889,75 EUR/kW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69210854"/>
                  </a:ext>
                </a:extLst>
              </a:tr>
              <a:tr h="4053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Basiswert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dirty="0"/>
                        <a:t>1.779,50 EUR/kW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1238361"/>
                  </a:ext>
                </a:extLst>
              </a:tr>
              <a:tr h="4053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dirty="0"/>
                        <a:t>150 % des Basiswerts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dirty="0"/>
                        <a:t>2.669,25 EUR/kW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890468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5975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EF7269F-F1FC-2EB7-4330-7CA8F13CC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5919"/>
          </a:xfrm>
        </p:spPr>
        <p:txBody>
          <a:bodyPr>
            <a:normAutofit fontScale="90000"/>
          </a:bodyPr>
          <a:lstStyle/>
          <a:p>
            <a:pPr algn="ctr"/>
            <a:r>
              <a:rPr lang="de-DE" dirty="0"/>
              <a:t>Capex- Werte</a:t>
            </a:r>
          </a:p>
        </p:txBody>
      </p:sp>
      <p:graphicFrame>
        <p:nvGraphicFramePr>
          <p:cNvPr id="4" name="Inhaltsplatzhalter 3">
            <a:extLst>
              <a:ext uri="{FF2B5EF4-FFF2-40B4-BE49-F238E27FC236}">
                <a16:creationId xmlns:a16="http://schemas.microsoft.com/office/drawing/2014/main" id="{1C046301-D3B1-1794-19D1-D19994DFDF4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87721614"/>
              </p:ext>
            </p:extLst>
          </p:nvPr>
        </p:nvGraphicFramePr>
        <p:xfrm>
          <a:off x="838200" y="1157348"/>
          <a:ext cx="10515600" cy="3017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1654498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85020416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71114617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17163044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Komponente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dirty="0"/>
                        <a:t>Literaturbandbreite bei Brandt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dirty="0"/>
                        <a:t>Rechnung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Basiswert unseres Modells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551259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Photovoltaik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dirty="0"/>
                        <a:t>600–1.242 EUR₍₂₀₂₃₎/kW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Mittelwert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921 EUR/kW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26723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Onshore-Wind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1.212–2.347 EUR₍₂₀₂₃₎/kW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Mittelwert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1.779,50 EUR/kW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24657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PEM-Elektrolyseur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804–1.790 EUR₍₂₀₂₃₎/kW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Mittelwert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1.297 EUR/kW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81431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Kompressor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741–8.414 EUR₍₂₀₂₃₎/kW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Mittelwert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4.577,50 EUR/kW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55563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H₂-Druckspeicher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454–1.013 EUR₍₂₀₂₃₎/kg H₂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Mittelwert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dirty="0"/>
                        <a:t>733,50 EUR/kg H₂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25858775"/>
                  </a:ext>
                </a:extLst>
              </a:tr>
            </a:tbl>
          </a:graphicData>
        </a:graphic>
      </p:graphicFrame>
      <p:sp>
        <p:nvSpPr>
          <p:cNvPr id="3" name="Textfeld 2">
            <a:extLst>
              <a:ext uri="{FF2B5EF4-FFF2-40B4-BE49-F238E27FC236}">
                <a16:creationId xmlns:a16="http://schemas.microsoft.com/office/drawing/2014/main" id="{7CB90014-49C6-7AB9-846C-4E27697475EE}"/>
              </a:ext>
            </a:extLst>
          </p:cNvPr>
          <p:cNvSpPr txBox="1"/>
          <p:nvPr/>
        </p:nvSpPr>
        <p:spPr>
          <a:xfrm>
            <a:off x="922492" y="4547724"/>
            <a:ext cx="80758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Im Laufe der Zeit kann ich andere Werte aus Literatur rausnehmen. Sie dienen als Startpunkt</a:t>
            </a:r>
          </a:p>
        </p:txBody>
      </p:sp>
    </p:spTree>
    <p:extLst>
      <p:ext uri="{BB962C8B-B14F-4D97-AF65-F5344CB8AC3E}">
        <p14:creationId xmlns:p14="http://schemas.microsoft.com/office/powerpoint/2010/main" val="5130171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493</Words>
  <Application>Microsoft Office PowerPoint</Application>
  <PresentationFormat>Breitbild</PresentationFormat>
  <Paragraphs>122</Paragraphs>
  <Slides>4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Calibri</vt:lpstr>
      <vt:lpstr>Office</vt:lpstr>
      <vt:lpstr>Systemgrenzen der Forschungsarbeit</vt:lpstr>
      <vt:lpstr>PowerPoint-Präsentation</vt:lpstr>
      <vt:lpstr>Untersuchte Sensitivitäten</vt:lpstr>
      <vt:lpstr>Capex- Werte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Meric Vural</dc:creator>
  <cp:lastModifiedBy>Meric Vural</cp:lastModifiedBy>
  <cp:revision>5</cp:revision>
  <dcterms:created xsi:type="dcterms:W3CDTF">2026-09-14T11:17:44Z</dcterms:created>
  <dcterms:modified xsi:type="dcterms:W3CDTF">2026-09-15T12:26:56Z</dcterms:modified>
</cp:coreProperties>
</file>